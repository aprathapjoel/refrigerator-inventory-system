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512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18288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0" y="1280160"/>
            <a:ext cx="3840480" cy="4114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EA5E9"/>
                </a:solidFill>
              </a:defRPr>
            </a:pPr>
            <a:r>
              <a:t>PROTOTYPE SPECIFICATION &amp; BLUEPRINT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33272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Refrigerator &amp; Pantry Inventory System</a:t>
            </a:r>
          </a:p>
          <a:p>
            <a:pPr>
              <a:spcBef>
                <a:spcPts val="1200"/>
              </a:spcBef>
              <a:defRPr sz="1600">
                <a:solidFill>
                  <a:srgbClr val="CBD5E1"/>
                </a:solidFill>
              </a:defRPr>
            </a:pPr>
            <a:r>
              <a:t>Smart Food Tracking, Category-Filtered Stock Management, Expiration Telemetry &amp; Auto-Reordering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754880"/>
            <a:ext cx="2468880" cy="10972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EA5E9"/>
                </a:solidFill>
              </a:defRPr>
            </a:pPr>
            <a:endParaRPr dirty="0"/>
          </a:p>
        </p:txBody>
      </p:sp>
      <p:sp>
        <p:nvSpPr>
          <p:cNvPr id="6" name="Rounded Rectangle 5"/>
          <p:cNvSpPr/>
          <p:nvPr/>
        </p:nvSpPr>
        <p:spPr>
          <a:xfrm>
            <a:off x="3566160" y="4754880"/>
            <a:ext cx="2468880" cy="10972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EA5E9"/>
                </a:solidFill>
              </a:defRPr>
            </a:pPr>
            <a:endParaRPr dirty="0"/>
          </a:p>
        </p:txBody>
      </p:sp>
      <p:sp>
        <p:nvSpPr>
          <p:cNvPr id="7" name="Rounded Rectangle 6"/>
          <p:cNvSpPr/>
          <p:nvPr/>
        </p:nvSpPr>
        <p:spPr>
          <a:xfrm>
            <a:off x="6217920" y="4754880"/>
            <a:ext cx="2468880" cy="10972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EA5E9"/>
                </a:solidFill>
              </a:defRPr>
            </a:pPr>
            <a:endParaRPr dirty="0"/>
          </a:p>
        </p:txBody>
      </p:sp>
      <p:sp>
        <p:nvSpPr>
          <p:cNvPr id="8" name="Rounded Rectangle 7"/>
          <p:cNvSpPr/>
          <p:nvPr/>
        </p:nvSpPr>
        <p:spPr>
          <a:xfrm>
            <a:off x="8869680" y="4754880"/>
            <a:ext cx="2468880" cy="10972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EA5E9"/>
                </a:solidFill>
              </a:defRPr>
            </a:pP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731520" y="6473952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rial"/>
              </a:defRPr>
            </a:pPr>
            <a:r>
              <a:t>Refrigerator &amp; Pantry Inventory System Prototype   •   Slide 1 of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EA5E9"/>
                </a:solidFill>
                <a:latin typeface="Arial"/>
              </a:defRPr>
            </a:pPr>
            <a:r>
              <a:t>PROTOTYPE SYSTEM SPECIFICATION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1. Executive Summary &amp; Prototype Scope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34747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1280160"/>
            <a:ext cx="3474720" cy="3840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Pantry &amp; Refrigerator Tracking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Centralizes all food items across 6 structured categories. Tracks net stock, individual intake batches, and metric units (kg, liters, units, g).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280160"/>
            <a:ext cx="34747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43400" y="1280160"/>
            <a:ext cx="3474720" cy="384048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Batch-Level Expiration Tracking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178308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Records distinct purchase and expiration dates for every batch. Automatically calculates nearest expiration date across active stock.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0" y="1280160"/>
            <a:ext cx="34747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955280" y="1280160"/>
            <a:ext cx="3474720" cy="384048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Instant Modal Category Filters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178308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Interactive category selectors and keyword search inside Stock-In and Stock-Out modals for fast, immediate material location.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703320"/>
            <a:ext cx="34747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31520" y="3703320"/>
            <a:ext cx="3474720" cy="38404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 dirty="0"/>
              <a:t> </a:t>
            </a:r>
            <a:r>
              <a:rPr lang="en-IN" dirty="0"/>
              <a:t>Real-time</a:t>
            </a:r>
            <a:endParaRPr dirty="0"/>
          </a:p>
        </p:txBody>
      </p:sp>
      <p:sp>
        <p:nvSpPr>
          <p:cNvPr id="17" name="TextBox 16"/>
          <p:cNvSpPr txBox="1"/>
          <p:nvPr/>
        </p:nvSpPr>
        <p:spPr>
          <a:xfrm>
            <a:off x="868680" y="420624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Real-time visual indicators: Sufficient (Green), Low Stock (Yellow), Expiring Soon (Orange), Expired (Red), and Out of Stock (Red).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3703320"/>
            <a:ext cx="34747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343400" y="3703320"/>
            <a:ext cx="3474720" cy="3840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3-Day Lookahead Expiration Alert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420624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Proactively scans active inventory and displays an urgent top alert banner for batches expiring within 3 days or already expired.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55280" y="3703320"/>
            <a:ext cx="34747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955280" y="3703320"/>
            <a:ext cx="3474720" cy="38404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Automated Reorder Shopping List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420624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Automatically generates replenishment lists when stock drops below minimum thresholds, with calculated order quantities.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EA5E9"/>
                </a:solidFill>
                <a:latin typeface="Arial"/>
              </a:defRPr>
            </a:pPr>
            <a:r>
              <a:t>PROTOTYPE SYSTEM SPECIFICATION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2. Food Category Architecture &amp; Storage Classification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34747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1280160"/>
            <a:ext cx="3474720" cy="38404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1. Fruits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32918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• Recommended Temp: 4°C to 7°C</a:t>
            </a:r>
          </a:p>
          <a:p>
            <a:pPr>
              <a:spcBef>
                <a:spcPts val="400"/>
              </a:spcBef>
              <a:defRPr sz="1050">
                <a:solidFill>
                  <a:srgbClr val="475569"/>
                </a:solidFill>
              </a:defRPr>
            </a:pPr>
            <a:r>
              <a:t>• Storage Profile: Crisper storage; humidity controlled</a:t>
            </a:r>
          </a:p>
          <a:p>
            <a:pPr>
              <a:spcBef>
                <a:spcPts val="400"/>
              </a:spcBef>
              <a:defRPr sz="1050">
                <a:solidFill>
                  <a:srgbClr val="2563EB"/>
                </a:solidFill>
              </a:defRPr>
            </a:pPr>
            <a:r>
              <a:t>• Items: Gala Apples, Strawberries, Lemons, Bananas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280160"/>
            <a:ext cx="34747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43400" y="1280160"/>
            <a:ext cx="3474720" cy="38404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2. Vegetables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1737360"/>
            <a:ext cx="32918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• Recommended Temp: 2°C to 4°C</a:t>
            </a:r>
          </a:p>
          <a:p>
            <a:pPr>
              <a:spcBef>
                <a:spcPts val="400"/>
              </a:spcBef>
              <a:defRPr sz="1050">
                <a:solidFill>
                  <a:srgbClr val="475569"/>
                </a:solidFill>
              </a:defRPr>
            </a:pPr>
            <a:r>
              <a:t>• Storage Profile: Chilling-sensitive moisture preservation</a:t>
            </a:r>
          </a:p>
          <a:p>
            <a:pPr>
              <a:spcBef>
                <a:spcPts val="400"/>
              </a:spcBef>
              <a:defRPr sz="1050">
                <a:solidFill>
                  <a:srgbClr val="2563EB"/>
                </a:solidFill>
              </a:defRPr>
            </a:pPr>
            <a:r>
              <a:t>• Items: Baby Spinach, Carrots, Yellow Onions, Garlic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0" y="1280160"/>
            <a:ext cx="34747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955280" y="1280160"/>
            <a:ext cx="3474720" cy="3840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3. Dairy Products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1737360"/>
            <a:ext cx="32918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• Recommended Temp: 1°C to 3°C</a:t>
            </a:r>
          </a:p>
          <a:p>
            <a:pPr>
              <a:spcBef>
                <a:spcPts val="400"/>
              </a:spcBef>
              <a:defRPr sz="1050">
                <a:solidFill>
                  <a:srgbClr val="475569"/>
                </a:solidFill>
              </a:defRPr>
            </a:pPr>
            <a:r>
              <a:t>• Storage Profile: Strict cold-chain refrigeration</a:t>
            </a:r>
          </a:p>
          <a:p>
            <a:pPr>
              <a:spcBef>
                <a:spcPts val="400"/>
              </a:spcBef>
              <a:defRPr sz="1050">
                <a:solidFill>
                  <a:srgbClr val="2563EB"/>
                </a:solidFill>
              </a:defRPr>
            </a:pPr>
            <a:r>
              <a:t>• Items: Whole Milk, Cheddar Cheese, Butter, Heavy Cream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703320"/>
            <a:ext cx="34747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31520" y="3703320"/>
            <a:ext cx="3474720" cy="3840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4. Baking Products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160520"/>
            <a:ext cx="32918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• Recommended Temp: 15°C to 20°C</a:t>
            </a:r>
          </a:p>
          <a:p>
            <a:pPr>
              <a:spcBef>
                <a:spcPts val="400"/>
              </a:spcBef>
              <a:defRPr sz="1050">
                <a:solidFill>
                  <a:srgbClr val="475569"/>
                </a:solidFill>
              </a:defRPr>
            </a:pPr>
            <a:r>
              <a:t>• Storage Profile: Dry pantry storage; sealed bins</a:t>
            </a:r>
          </a:p>
          <a:p>
            <a:pPr>
              <a:spcBef>
                <a:spcPts val="400"/>
              </a:spcBef>
              <a:defRPr sz="1050">
                <a:solidFill>
                  <a:srgbClr val="2563EB"/>
                </a:solidFill>
              </a:defRPr>
            </a:pPr>
            <a:r>
              <a:t>• Items: Flour, Granulated Sugar, Active Dry Yeast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3703320"/>
            <a:ext cx="34747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343400" y="3703320"/>
            <a:ext cx="3474720" cy="384048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5. Dessert Products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4160520"/>
            <a:ext cx="32918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• Recommended Temp: -18°C to 4°C</a:t>
            </a:r>
          </a:p>
          <a:p>
            <a:pPr>
              <a:spcBef>
                <a:spcPts val="400"/>
              </a:spcBef>
              <a:defRPr sz="1050">
                <a:solidFill>
                  <a:srgbClr val="475569"/>
                </a:solidFill>
              </a:defRPr>
            </a:pPr>
            <a:r>
              <a:t>• Storage Profile: Freezer &amp; chilled dessert bases</a:t>
            </a:r>
          </a:p>
          <a:p>
            <a:pPr>
              <a:spcBef>
                <a:spcPts val="400"/>
              </a:spcBef>
              <a:defRPr sz="1050">
                <a:solidFill>
                  <a:srgbClr val="2563EB"/>
                </a:solidFill>
              </a:defRPr>
            </a:pPr>
            <a:r>
              <a:t>• Items: Dark Chocolate Chips, Tart Pastry Shells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55280" y="3703320"/>
            <a:ext cx="34747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955280" y="3703320"/>
            <a:ext cx="3474720" cy="384048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6. Raw Materials &amp; Other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4160520"/>
            <a:ext cx="32918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• Recommended Temp: Ambient / Chilled</a:t>
            </a:r>
          </a:p>
          <a:p>
            <a:pPr>
              <a:spcBef>
                <a:spcPts val="400"/>
              </a:spcBef>
              <a:defRPr sz="1050">
                <a:solidFill>
                  <a:srgbClr val="475569"/>
                </a:solidFill>
              </a:defRPr>
            </a:pPr>
            <a:r>
              <a:t>• Storage Profile: Cooking staples, oils, seasonings, proteins</a:t>
            </a:r>
          </a:p>
          <a:p>
            <a:pPr>
              <a:spcBef>
                <a:spcPts val="400"/>
              </a:spcBef>
              <a:defRPr sz="1050">
                <a:solidFill>
                  <a:srgbClr val="2563EB"/>
                </a:solidFill>
              </a:defRPr>
            </a:pPr>
            <a:r>
              <a:t>• Items: Chicken Breast, Olive Oil, Black Pepper, Soy Sauce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EA5E9"/>
                </a:solidFill>
                <a:latin typeface="Arial"/>
              </a:defRPr>
            </a:pPr>
            <a:r>
              <a:t>PROTOTYPE SYSTEM SPECIFICATION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5. Object-Oriented Domain Entities &amp; UML Structure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34747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1280160"/>
            <a:ext cx="3474720" cy="38404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Category | Domain Grouping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32918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950">
                <a:solidFill>
                  <a:srgbClr val="0F172A"/>
                </a:solidFill>
              </a:defRPr>
            </a:pPr>
            <a:r>
              <a:t>+ id: int [PK]</a:t>
            </a:r>
            <a:br/>
            <a:r>
              <a:t>+ name: string</a:t>
            </a:r>
            <a:br/>
            <a:r>
              <a:t>+ description: string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</a:defRPr>
            </a:pPr>
            <a:r>
              <a:t>+ getItems(): List&lt;InventoryItem&gt;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280160"/>
            <a:ext cx="34747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43400" y="1280160"/>
            <a:ext cx="3474720" cy="38404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InventoryItem | Core Catalog Entity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1737360"/>
            <a:ext cx="32918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950">
                <a:solidFill>
                  <a:srgbClr val="0F172A"/>
                </a:solidFill>
              </a:defRPr>
            </a:pPr>
            <a:r>
              <a:t>+ id: int [PK]</a:t>
            </a:r>
            <a:br/>
            <a:r>
              <a:t>+ categoryId: int [FK]</a:t>
            </a:r>
            <a:br/>
            <a:r>
              <a:t>+ name: string</a:t>
            </a:r>
            <a:br/>
            <a:r>
              <a:t>+ unit: string</a:t>
            </a:r>
            <a:br/>
            <a:r>
              <a:t>+ minThreshold: float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</a:defRPr>
            </a:pPr>
            <a:r>
              <a:t>+ calculateCurrentStock(): float</a:t>
            </a:r>
            <a:br/>
            <a:r>
              <a:t>+ getNearestExpiration(): Date</a:t>
            </a:r>
            <a:br/>
            <a:r>
              <a:t>+ evaluateStatus(): StatusBadge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0" y="1280160"/>
            <a:ext cx="34747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955280" y="1280160"/>
            <a:ext cx="3474720" cy="38404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InventoryTransaction | Batch Movement Record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1737360"/>
            <a:ext cx="32918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950">
                <a:solidFill>
                  <a:srgbClr val="0F172A"/>
                </a:solidFill>
              </a:defRPr>
            </a:pPr>
            <a:r>
              <a:t>+ id: int [PK]</a:t>
            </a:r>
            <a:br/>
            <a:r>
              <a:t>+ itemId: int [FK]</a:t>
            </a:r>
            <a:br/>
            <a:r>
              <a:t>+ transactionType: 'IN'|'OUT'</a:t>
            </a:r>
            <a:br/>
            <a:r>
              <a:t>+ quantity: float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</a:defRPr>
            </a:pPr>
            <a:r>
              <a:t>+ purchaseDate: Date</a:t>
            </a:r>
            <a:br/>
            <a:r>
              <a:t>+ expirationDate: Date</a:t>
            </a:r>
            <a:br/>
            <a:r>
              <a:t>+ reason: string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703320"/>
            <a:ext cx="34747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31520" y="3703320"/>
            <a:ext cx="3474720" cy="38404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AlertEngine | Telemetry Service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160520"/>
            <a:ext cx="32918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950">
                <a:solidFill>
                  <a:srgbClr val="0F172A"/>
                </a:solidFill>
              </a:defRPr>
            </a:pPr>
            <a:r>
              <a:t>+ evaluateExpiringLots(horizonDays=3): List&lt;Alert&gt;</a:t>
            </a:r>
            <a:br/>
            <a:r>
              <a:t>+ evaluateLowStock(): List&lt;ShoppingListItem&gt;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3703320"/>
            <a:ext cx="34747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343400" y="3703320"/>
            <a:ext cx="3474720" cy="38404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StockInPayload | Inbound DTO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4160520"/>
            <a:ext cx="32918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950">
                <a:solidFill>
                  <a:srgbClr val="0F172A"/>
                </a:solidFill>
              </a:defRPr>
            </a:pPr>
            <a:r>
              <a:t>+ itemId: int</a:t>
            </a:r>
            <a:br/>
            <a:r>
              <a:t>+ quantity: float</a:t>
            </a:r>
            <a:br/>
            <a:r>
              <a:t>+ purchaseDate: Date</a:t>
            </a:r>
            <a:br/>
            <a:r>
              <a:t>+ expirationDate: Date</a:t>
            </a:r>
            <a:br/>
            <a:r>
              <a:t>+ reason: string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55280" y="3703320"/>
            <a:ext cx="34747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955280" y="3703320"/>
            <a:ext cx="3474720" cy="38404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StockOutPayload | Outbound DTO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4160520"/>
            <a:ext cx="32918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950">
                <a:solidFill>
                  <a:srgbClr val="0F172A"/>
                </a:solidFill>
              </a:defRPr>
            </a:pPr>
            <a:r>
              <a:t>+ itemId: int</a:t>
            </a:r>
            <a:br/>
            <a:r>
              <a:t>+ quantity: float</a:t>
            </a:r>
            <a:br/>
            <a:r>
              <a:t>+ reason: 'Used/Consumed'|'Spoiled/Expired'|'Transferred'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EA5E9"/>
                </a:solidFill>
                <a:latin typeface="Arial"/>
              </a:defRPr>
            </a:pPr>
            <a:r>
              <a:t>PROTOTYPE SYSTEM SPECIFICATION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6. Class-Responsibility-Collaborator (CRC) Cards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347472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1280160"/>
            <a:ext cx="3474720" cy="3840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InventoryItem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3200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F172A"/>
                </a:solidFill>
              </a:defRPr>
            </a:pPr>
            <a:r>
              <a:t>RESPONSIBILITIES (What it Does):</a:t>
            </a:r>
          </a:p>
          <a:p>
            <a:pPr>
              <a:spcBef>
                <a:spcPts val="300"/>
              </a:spcBef>
              <a:defRPr sz="950">
                <a:solidFill>
                  <a:srgbClr val="0F172A"/>
                </a:solidFill>
              </a:defRPr>
            </a:pPr>
            <a:r>
              <a:t>• Maintains item name, category, unit, and min threshold</a:t>
            </a:r>
          </a:p>
          <a:p>
            <a:pPr>
              <a:spcBef>
                <a:spcPts val="300"/>
              </a:spcBef>
              <a:defRPr sz="950">
                <a:solidFill>
                  <a:srgbClr val="0F172A"/>
                </a:solidFill>
              </a:defRPr>
            </a:pPr>
            <a:r>
              <a:t>• Aggregates total stock balance from transactions</a:t>
            </a:r>
          </a:p>
          <a:p>
            <a:pPr>
              <a:spcBef>
                <a:spcPts val="300"/>
              </a:spcBef>
              <a:defRPr sz="950">
                <a:solidFill>
                  <a:srgbClr val="0F172A"/>
                </a:solidFill>
              </a:defRPr>
            </a:pPr>
            <a:r>
              <a:t>• Evaluates health status (Sufficient, Low, Expiring)</a:t>
            </a:r>
          </a:p>
          <a:p>
            <a:pPr>
              <a:spcBef>
                <a:spcPts val="1400"/>
              </a:spcBef>
              <a:defRPr sz="1000" b="1">
                <a:solidFill>
                  <a:srgbClr val="2563EB"/>
                </a:solidFill>
              </a:defRPr>
            </a:pPr>
            <a:r>
              <a:t>COLLABORATORS (Interacts With):</a:t>
            </a:r>
          </a:p>
          <a:p>
            <a:pPr>
              <a:spcBef>
                <a:spcPts val="300"/>
              </a:spcBef>
              <a:defRPr sz="950">
                <a:solidFill>
                  <a:srgbClr val="0F172A"/>
                </a:solidFill>
              </a:defRPr>
            </a:pPr>
            <a:r>
              <a:t>• Category</a:t>
            </a:r>
          </a:p>
          <a:p>
            <a:pPr>
              <a:spcBef>
                <a:spcPts val="300"/>
              </a:spcBef>
              <a:defRPr sz="950">
                <a:solidFill>
                  <a:srgbClr val="0F172A"/>
                </a:solidFill>
              </a:defRPr>
            </a:pPr>
            <a:r>
              <a:t>• InventoryTransaction</a:t>
            </a:r>
          </a:p>
          <a:p>
            <a:pPr>
              <a:spcBef>
                <a:spcPts val="300"/>
              </a:spcBef>
              <a:defRPr sz="950">
                <a:solidFill>
                  <a:srgbClr val="0F172A"/>
                </a:solidFill>
              </a:defRPr>
            </a:pPr>
            <a:r>
              <a:t>• AlertEngine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280160"/>
            <a:ext cx="347472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43400" y="1280160"/>
            <a:ext cx="3474720" cy="384048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InventoryTransaction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1783080"/>
            <a:ext cx="3200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F172A"/>
                </a:solidFill>
              </a:defRPr>
            </a:pPr>
            <a:r>
              <a:t>RESPONSIBILITIES (What it Does):</a:t>
            </a:r>
          </a:p>
          <a:p>
            <a:pPr>
              <a:spcBef>
                <a:spcPts val="300"/>
              </a:spcBef>
              <a:defRPr sz="950">
                <a:solidFill>
                  <a:srgbClr val="0F172A"/>
                </a:solidFill>
              </a:defRPr>
            </a:pPr>
            <a:r>
              <a:t>• Records individual batch inflow and consumption outflow</a:t>
            </a:r>
          </a:p>
          <a:p>
            <a:pPr>
              <a:spcBef>
                <a:spcPts val="300"/>
              </a:spcBef>
              <a:defRPr sz="950">
                <a:solidFill>
                  <a:srgbClr val="0F172A"/>
                </a:solidFill>
              </a:defRPr>
            </a:pPr>
            <a:r>
              <a:t>• Tracks specific purchase and expiration dates</a:t>
            </a:r>
          </a:p>
          <a:p>
            <a:pPr>
              <a:spcBef>
                <a:spcPts val="300"/>
              </a:spcBef>
              <a:defRPr sz="950">
                <a:solidFill>
                  <a:srgbClr val="0F172A"/>
                </a:solidFill>
              </a:defRPr>
            </a:pPr>
            <a:r>
              <a:t>• Logs reason classification</a:t>
            </a:r>
          </a:p>
          <a:p>
            <a:pPr>
              <a:spcBef>
                <a:spcPts val="1400"/>
              </a:spcBef>
              <a:defRPr sz="1000" b="1">
                <a:solidFill>
                  <a:srgbClr val="2563EB"/>
                </a:solidFill>
              </a:defRPr>
            </a:pPr>
            <a:r>
              <a:t>COLLABORATORS (Interacts With):</a:t>
            </a:r>
          </a:p>
          <a:p>
            <a:pPr>
              <a:spcBef>
                <a:spcPts val="300"/>
              </a:spcBef>
              <a:defRPr sz="950">
                <a:solidFill>
                  <a:srgbClr val="0F172A"/>
                </a:solidFill>
              </a:defRPr>
            </a:pPr>
            <a:r>
              <a:t>• InventoryItem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0" y="1280160"/>
            <a:ext cx="347472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955280" y="1280160"/>
            <a:ext cx="3474720" cy="38404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AlertEngine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1783080"/>
            <a:ext cx="3200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F172A"/>
                </a:solidFill>
              </a:defRPr>
            </a:pPr>
            <a:r>
              <a:t>RESPONSIBILITIES (What it Does):</a:t>
            </a:r>
          </a:p>
          <a:p>
            <a:pPr>
              <a:spcBef>
                <a:spcPts val="300"/>
              </a:spcBef>
              <a:defRPr sz="950">
                <a:solidFill>
                  <a:srgbClr val="0F172A"/>
                </a:solidFill>
              </a:defRPr>
            </a:pPr>
            <a:r>
              <a:t>• Scans batch expiration dates against today's date</a:t>
            </a:r>
          </a:p>
          <a:p>
            <a:pPr>
              <a:spcBef>
                <a:spcPts val="300"/>
              </a:spcBef>
              <a:defRPr sz="950">
                <a:solidFill>
                  <a:srgbClr val="0F172A"/>
                </a:solidFill>
              </a:defRPr>
            </a:pPr>
            <a:r>
              <a:t>• Emits 3-day lookahead Expiring Soon alerts</a:t>
            </a:r>
          </a:p>
          <a:p>
            <a:pPr>
              <a:spcBef>
                <a:spcPts val="300"/>
              </a:spcBef>
              <a:defRPr sz="950">
                <a:solidFill>
                  <a:srgbClr val="0F172A"/>
                </a:solidFill>
              </a:defRPr>
            </a:pPr>
            <a:r>
              <a:t>• Compiles Low Stock items into Shopping List</a:t>
            </a:r>
          </a:p>
          <a:p>
            <a:pPr>
              <a:spcBef>
                <a:spcPts val="1400"/>
              </a:spcBef>
              <a:defRPr sz="1000" b="1">
                <a:solidFill>
                  <a:srgbClr val="2563EB"/>
                </a:solidFill>
              </a:defRPr>
            </a:pPr>
            <a:r>
              <a:t>COLLABORATORS (Interacts With):</a:t>
            </a:r>
          </a:p>
          <a:p>
            <a:pPr>
              <a:spcBef>
                <a:spcPts val="300"/>
              </a:spcBef>
              <a:defRPr sz="950">
                <a:solidFill>
                  <a:srgbClr val="0F172A"/>
                </a:solidFill>
              </a:defRPr>
            </a:pPr>
            <a:r>
              <a:t>• InventoryItem</a:t>
            </a:r>
          </a:p>
          <a:p>
            <a:pPr>
              <a:spcBef>
                <a:spcPts val="300"/>
              </a:spcBef>
              <a:defRPr sz="950">
                <a:solidFill>
                  <a:srgbClr val="0F172A"/>
                </a:solidFill>
              </a:defRPr>
            </a:pPr>
            <a:r>
              <a:t>• InventoryTransaction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EA5E9"/>
                </a:solidFill>
                <a:latin typeface="Arial"/>
              </a:defRPr>
            </a:pPr>
            <a:r>
              <a:t>PROTOTYPE SYSTEM SPECIFICATION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7. Inbound Stock-In Workflow &amp; Category Filter Feature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280160"/>
            <a:ext cx="1033272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51560" y="1389888"/>
            <a:ext cx="640080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325880"/>
            <a:ext cx="9235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Step 1: Open Stock-In Modal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User clicks '+ In' on an inventory row or '+ Stock In' from the dashboard.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240280"/>
            <a:ext cx="1033272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051560" y="2350008"/>
            <a:ext cx="640080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286000"/>
            <a:ext cx="9235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Step 2: Instant Category &amp; Keyword Filter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User selects a Category (e.g., 'Dairy Products') or types in the live search box. Modal dynamically filters dropdown to only matching materials.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200400"/>
            <a:ext cx="1033272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051560" y="3310128"/>
            <a:ext cx="640080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46120"/>
            <a:ext cx="9235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Step 3: Quantity &amp; Batch Dates Entry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User specifies intake quantity, purchase date, and batch expiration date.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60520"/>
            <a:ext cx="1033272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1051560" y="4270248"/>
            <a:ext cx="640080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206240"/>
            <a:ext cx="9235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Step 4: Reason Tagging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User selects reason: 'Initial Stock / Regular Purchase', 'Supplier Restock', or 'Fresh Produce Restock'.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5120640"/>
            <a:ext cx="1033272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1051560" y="5230368"/>
            <a:ext cx="640080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5166360"/>
            <a:ext cx="9235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Step 5: Database Commit &amp; Real-Time Sync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POST /api/transactions/in logs the transaction, updates stock totals, and refreshes the UI dashboard instantly.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EA5E9"/>
                </a:solidFill>
                <a:latin typeface="Arial"/>
              </a:defRPr>
            </a:pPr>
            <a:r>
              <a:t>PROTOTYPE SYSTEM SPECIFICATION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8. Outbound Stock-Out Workflow &amp; Validation Rules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1280160"/>
            <a:ext cx="5212080" cy="38404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Stock-Out Execution 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100" b="1">
                <a:solidFill>
                  <a:srgbClr val="EF4444"/>
                </a:solidFill>
              </a:defRPr>
            </a:pPr>
            <a:r>
              <a:t>1. Material Selection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User filters by category or searches item name inside the Stock-Out modal.</a:t>
            </a:r>
          </a:p>
          <a:p>
            <a:pPr>
              <a:spcBef>
                <a:spcPts val="800"/>
              </a:spcBef>
              <a:defRPr sz="1100" b="1">
                <a:solidFill>
                  <a:srgbClr val="EF4444"/>
                </a:solidFill>
              </a:defRPr>
            </a:pPr>
            <a:r>
              <a:t>2. Stock Sufficiency Check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Modal validates that deduction quantity &lt;= available stock balance. Over-deductions are blocked with an error banner.</a:t>
            </a:r>
          </a:p>
          <a:p>
            <a:pPr>
              <a:spcBef>
                <a:spcPts val="800"/>
              </a:spcBef>
              <a:defRPr sz="1100" b="1">
                <a:solidFill>
                  <a:srgbClr val="EF4444"/>
                </a:solidFill>
              </a:defRPr>
            </a:pPr>
            <a:r>
              <a:t>3. Reason Classification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User selects one of 3 clean reasons: 'Used / Consumed', 'Spoiled / Expired', or 'Transferred'.</a:t>
            </a:r>
          </a:p>
          <a:p>
            <a:pPr>
              <a:spcBef>
                <a:spcPts val="800"/>
              </a:spcBef>
              <a:defRPr sz="1100" b="1">
                <a:solidFill>
                  <a:srgbClr val="EF4444"/>
                </a:solidFill>
              </a:defRPr>
            </a:pPr>
            <a:r>
              <a:t>4. Atomic Deduction Commit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POST /api/transactions/out writes the 'OUT' transaction and updates the item's balance.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280160"/>
            <a:ext cx="521208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17920" y="1280160"/>
            <a:ext cx="5212080" cy="384048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Deduction Reason Definitions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178308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100" b="1">
                <a:solidFill>
                  <a:srgbClr val="1E40AF"/>
                </a:solidFill>
              </a:defRPr>
            </a:pPr>
            <a:r>
              <a:t>• Used / Consumed (Default)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Standard culinary usage: ingredients cooked, eaten, or prepared for meals.</a:t>
            </a:r>
          </a:p>
          <a:p>
            <a:pPr>
              <a:spcBef>
                <a:spcPts val="1200"/>
              </a:spcBef>
              <a:defRPr sz="1100" b="1">
                <a:solidFill>
                  <a:srgbClr val="1E40AF"/>
                </a:solidFill>
              </a:defRPr>
            </a:pPr>
            <a:r>
              <a:t>• Spoiled / Expired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Discarded inventory: food that reached past expiration, spoiled, or went bad.</a:t>
            </a:r>
          </a:p>
          <a:p>
            <a:pPr>
              <a:spcBef>
                <a:spcPts val="1200"/>
              </a:spcBef>
              <a:defRPr sz="1100" b="1">
                <a:solidFill>
                  <a:srgbClr val="1E40AF"/>
                </a:solidFill>
              </a:defRPr>
            </a:pPr>
            <a:r>
              <a:t>• Transferred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Relocated inventory: stock transferred to another kitchen, station, or storage area.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EA5E9"/>
                </a:solidFill>
                <a:latin typeface="Arial"/>
              </a:defRPr>
            </a:pPr>
            <a:r>
              <a:t>PROTOTYPE SYSTEM SPECIFICATION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9. Real-Time Telemetry &amp; 5 Status Badges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280160"/>
            <a:ext cx="1033272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51560" y="1417320"/>
            <a:ext cx="320040" cy="5943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508760" y="1325880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SUFFICIENT (Green Badge)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Trigger: current_stock &gt;= min_threshold &amp; No Expiring Batches   •   Healthy stock level; no immediate action required.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240280"/>
            <a:ext cx="1033272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1051560" y="2377440"/>
            <a:ext cx="320040" cy="594360"/>
          </a:xfrm>
          <a:prstGeom prst="roundRect">
            <a:avLst/>
          </a:prstGeom>
          <a:solidFill>
            <a:srgbClr val="EAB3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508760" y="2286000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AB308"/>
                </a:solidFill>
              </a:defRPr>
            </a:pPr>
            <a:r>
              <a:t>LOW_STOCK (Yellow Badge)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Trigger: 0 &lt; current_stock &lt; min_threshold   •   Inventory running low; automatically added to Reorder Shopping List.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200400"/>
            <a:ext cx="1033272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051560" y="3337560"/>
            <a:ext cx="320040" cy="5943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508760" y="3246120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EXPIRING_SOON (Orange Badge)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Trigger: 0 &lt; (expiration_date - TODAY) &lt;= 3 Days   •   Batch near expiration; highlighted in top banner to prioritize usage.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60520"/>
            <a:ext cx="1033272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051560" y="4297680"/>
            <a:ext cx="320040" cy="59436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508760" y="4206240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F4444"/>
                </a:solidFill>
              </a:defRPr>
            </a:pPr>
            <a:r>
              <a:t>EXPIRED (Red Badge)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Trigger: Positive batch with expiration_date &lt; TODAY   •   Batch past expiration; flagged for immediate inspection or discard.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5120640"/>
            <a:ext cx="1033272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51560" y="5257800"/>
            <a:ext cx="320040" cy="5943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508760" y="5166360"/>
            <a:ext cx="9601200" cy="433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rPr dirty="0"/>
              <a:t>OUT_OF_STOCK (</a:t>
            </a:r>
            <a:r>
              <a:rPr lang="en-IN" dirty="0"/>
              <a:t>Basic Indication</a:t>
            </a:r>
            <a:r>
              <a:rPr dirty="0"/>
              <a:t>)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rPr dirty="0"/>
              <a:t>Trigger: </a:t>
            </a:r>
            <a:r>
              <a:rPr dirty="0" err="1"/>
              <a:t>current_stock</a:t>
            </a:r>
            <a:r>
              <a:rPr dirty="0"/>
              <a:t> &lt;= 0   •   Completely depleted; urgent restock required.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EA5E9"/>
                </a:solidFill>
                <a:latin typeface="Arial"/>
              </a:defRPr>
            </a:pPr>
            <a:r>
              <a:t>PROTOTYPE SYSTEM SPECIFICATION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10. Automated Reorder Shopping List Engine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1280160"/>
            <a:ext cx="5212080" cy="3840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Reorder Calculation Formula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Replenishment Target Formula:</a:t>
            </a:r>
          </a:p>
          <a:p>
            <a:pPr>
              <a:spcBef>
                <a:spcPts val="400"/>
              </a:spcBef>
              <a:defRPr sz="1000">
                <a:solidFill>
                  <a:srgbClr val="2563EB"/>
                </a:solidFill>
                <a:latin typeface="Courier New"/>
              </a:defRPr>
            </a:pPr>
            <a:r>
              <a:t>Target Stock = 2 × min_threshold</a:t>
            </a:r>
            <a:br/>
            <a:r>
              <a:t>Suggested Reorder = MAX(1, Target Stock - current_stock)</a:t>
            </a:r>
          </a:p>
          <a:p>
            <a:br/>
            <a:r>
              <a:t>Example Calculation (Lemons):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• Min Threshold: 10.0 units</a:t>
            </a:r>
            <a:br/>
            <a:r>
              <a:t>• Current Stock: 2.0 units</a:t>
            </a:r>
            <a:br/>
            <a:r>
              <a:t>• Target Level: 20.0 units</a:t>
            </a:r>
            <a:br/>
            <a:r>
              <a:t>• Suggested Reorder: 18.0 units (Urgency: HIGH)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280160"/>
            <a:ext cx="521208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17920" y="1280160"/>
            <a:ext cx="5212080" cy="384048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Shopping List Modal Features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178308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100" b="1">
                <a:solidFill>
                  <a:srgbClr val="1E40AF"/>
                </a:solidFill>
              </a:defRPr>
            </a:pPr>
            <a:r>
              <a:t>✔ Automated Compilation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GET /api/alerts/shopping-list dynamically gathers all depleted items below threshold.</a:t>
            </a:r>
          </a:p>
          <a:p>
            <a:pPr>
              <a:spcBef>
                <a:spcPts val="800"/>
              </a:spcBef>
              <a:defRPr sz="1100" b="1">
                <a:solidFill>
                  <a:srgbClr val="1E40AF"/>
                </a:solidFill>
              </a:defRPr>
            </a:pPr>
            <a:r>
              <a:t>✔ One-Click Access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Top header button displays a live red badge count with total deficit items.</a:t>
            </a:r>
          </a:p>
          <a:p>
            <a:pPr>
              <a:spcBef>
                <a:spcPts val="800"/>
              </a:spcBef>
              <a:defRPr sz="1100" b="1">
                <a:solidFill>
                  <a:srgbClr val="1E40AF"/>
                </a:solidFill>
              </a:defRPr>
            </a:pPr>
            <a:r>
              <a:t>✔ Urgency Badges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Tags depleted stock (&lt;= 0) as 'CRITICAL' and low stock as 'HIGH'.</a:t>
            </a:r>
          </a:p>
          <a:p>
            <a:pPr>
              <a:spcBef>
                <a:spcPts val="800"/>
              </a:spcBef>
              <a:defRPr sz="1100" b="1">
                <a:solidFill>
                  <a:srgbClr val="1E40AF"/>
                </a:solidFill>
              </a:defRPr>
            </a:pPr>
            <a:r>
              <a:t>✔ Category Breakdown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Organizes items by category with exact units for easy in-store or online grocery purchasing.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EA5E9"/>
                </a:solidFill>
                <a:latin typeface="Arial"/>
              </a:defRPr>
            </a:pPr>
            <a:r>
              <a:t>PROTOTYPE SYSTEM SPECIFICATION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11. Core Modules &amp; Code Implementation Breakdown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1280160"/>
            <a:ext cx="5212080" cy="3840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Backend Modules (Node / Express / SQLite)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050" b="1">
                <a:solidFill>
                  <a:srgbClr val="2563EB"/>
                </a:solidFill>
              </a:defRPr>
            </a:pPr>
            <a:r>
              <a:t>• server.js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Express REST server hosting /api/categories, /api/items, /api/transactions/in, /api/transactions/out, /api/dashboard/summary, and /api/alerts/*.</a:t>
            </a:r>
          </a:p>
          <a:p>
            <a:pPr>
              <a:spcBef>
                <a:spcPts val="600"/>
              </a:spcBef>
              <a:defRPr sz="1050" b="1">
                <a:solidFill>
                  <a:srgbClr val="2563EB"/>
                </a:solidFill>
              </a:defRPr>
            </a:pPr>
            <a:r>
              <a:t>• db.js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SQLite database connection manager with async run(), get(), all() helper wrappers and auto-initialization.</a:t>
            </a:r>
          </a:p>
          <a:p>
            <a:pPr>
              <a:spcBef>
                <a:spcPts val="600"/>
              </a:spcBef>
              <a:defRPr sz="1050" b="1">
                <a:solidFill>
                  <a:srgbClr val="2563EB"/>
                </a:solidFill>
              </a:defRPr>
            </a:pPr>
            <a:r>
              <a:t>• schema.sql &amp; seed.sql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DDL script defining categories, items, and inventory_transactions with realistic sample items.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280160"/>
            <a:ext cx="521208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17920" y="1280160"/>
            <a:ext cx="5212080" cy="384048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Frontend Modules (React 18 + Vite)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178308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050" b="1">
                <a:solidFill>
                  <a:srgbClr val="1E40AF"/>
                </a:solidFill>
              </a:defRPr>
            </a:pPr>
            <a:r>
              <a:t>• App.jsx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Root orchestrator managing data fetch, search/category state, alert banners, and modal visibility.</a:t>
            </a:r>
          </a:p>
          <a:p>
            <a:pPr>
              <a:spcBef>
                <a:spcPts val="600"/>
              </a:spcBef>
              <a:defRPr sz="1050" b="1">
                <a:solidFill>
                  <a:srgbClr val="1E40AF"/>
                </a:solidFill>
              </a:defRPr>
            </a:pPr>
            <a:r>
              <a:t>• StockInModal.jsx / StockOutModal.jsx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Enhanced modals featuring live category dropdown filtering and instant material search.</a:t>
            </a:r>
          </a:p>
          <a:p>
            <a:pPr>
              <a:spcBef>
                <a:spcPts val="600"/>
              </a:spcBef>
              <a:defRPr sz="1050" b="1">
                <a:solidFill>
                  <a:srgbClr val="1E40AF"/>
                </a:solidFill>
              </a:defRPr>
            </a:pPr>
            <a:r>
              <a:t>• InventoryTable.jsx &amp; CategoryGrid.jsx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Renderable interactive tables and cards with color-coded status badges.</a:t>
            </a:r>
          </a:p>
          <a:p>
            <a:pPr>
              <a:spcBef>
                <a:spcPts val="600"/>
              </a:spcBef>
              <a:defRPr sz="1050" b="1">
                <a:solidFill>
                  <a:srgbClr val="1E40AF"/>
                </a:solidFill>
              </a:defRPr>
            </a:pPr>
            <a:r>
              <a:t>• ShoppingListModal.jsx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Reorder modal displaying all low-stock items with suggested replenishment quantities.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EA5E9"/>
                </a:solidFill>
                <a:latin typeface="Arial"/>
              </a:defRPr>
            </a:pPr>
            <a:r>
              <a:t>PROTOTYPE SYSTEM SPECIFICATION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12. Summary &amp; Live Prototype Deployment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261872"/>
            <a:ext cx="502920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914400" y="1261872"/>
            <a:ext cx="5029200" cy="3840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1. Accurate Stock Tracking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755648"/>
            <a:ext cx="46634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1100">
                <a:solidFill>
                  <a:srgbClr val="0F172A"/>
                </a:solidFill>
              </a:defRPr>
            </a:pPr>
            <a:r>
              <a:t>Maintains exact real-time quantities and batch expiration dates across all 6 food groups with zero data loss.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261872"/>
            <a:ext cx="502920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17920" y="1261872"/>
            <a:ext cx="5029200" cy="38404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2. Instant Material Discovery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55648"/>
            <a:ext cx="46634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1100">
                <a:solidFill>
                  <a:srgbClr val="0F172A"/>
                </a:solidFill>
              </a:defRPr>
            </a:pPr>
            <a:r>
              <a:t>Category filter dropdowns and keyword search in Stock-In/Out modals allow users to find items in seconds.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273552"/>
            <a:ext cx="502920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914400" y="3273552"/>
            <a:ext cx="5029200" cy="3840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3. Proactive Spoilage Prevention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767328"/>
            <a:ext cx="46634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1100">
                <a:solidFill>
                  <a:srgbClr val="0F172A"/>
                </a:solidFill>
              </a:defRPr>
            </a:pPr>
            <a:r>
              <a:t>3-day lookahead expiration warnings and nearest expiry tags ensure perishable ingredients are used before spoiling.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273552"/>
            <a:ext cx="502920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217920" y="3273552"/>
            <a:ext cx="5029200" cy="384048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4. Automated Reordering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767328"/>
            <a:ext cx="46634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1100">
                <a:solidFill>
                  <a:srgbClr val="0F172A"/>
                </a:solidFill>
              </a:defRPr>
            </a:pPr>
            <a:r>
              <a:t>Calculates required restock amounts automatically when stock falls below threshold, simplifying grocery planning.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5440680"/>
            <a:ext cx="10332720" cy="868680"/>
          </a:xfrm>
          <a:prstGeom prst="roundRect">
            <a:avLst/>
          </a:prstGeom>
          <a:solidFill>
            <a:srgbClr val="0F172A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97280" y="5486400"/>
            <a:ext cx="9966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EA5E9"/>
                </a:solidFill>
              </a:defRPr>
            </a:pPr>
            <a:r>
              <a:rPr dirty="0"/>
              <a:t>🌐 LIVE PRODUCTION DEPLOYMENT (VERCEL)</a:t>
            </a:r>
          </a:p>
          <a:p>
            <a:pPr>
              <a:spcBef>
                <a:spcPts val="200"/>
              </a:spcBef>
              <a:defRPr sz="1500" b="1">
                <a:solidFill>
                  <a:srgbClr val="10B981"/>
                </a:solidFill>
              </a:defRPr>
            </a:pPr>
            <a:r>
              <a:rPr dirty="0"/>
              <a:t>https://refrigerator-inventory-system.vercel.app/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1685</Words>
  <Application>Microsoft Office PowerPoint</Application>
  <PresentationFormat>Widescreen</PresentationFormat>
  <Paragraphs>180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P J</cp:lastModifiedBy>
  <cp:revision>2</cp:revision>
  <dcterms:created xsi:type="dcterms:W3CDTF">2013-01-27T09:14:16Z</dcterms:created>
  <dcterms:modified xsi:type="dcterms:W3CDTF">2026-08-23T19:11:41Z</dcterms:modified>
  <cp:category/>
</cp:coreProperties>
</file>