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280160"/>
            <a:ext cx="3840480" cy="4114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EA5E9"/>
                </a:solidFill>
              </a:defRPr>
            </a:pPr>
            <a:r>
              <a:t>PROTOTYPE SPECIFICATION &amp; BLUEPRINT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Refrigerator &amp; Pantry Inventory System</a:t>
            </a:r>
          </a:p>
          <a:p>
            <a:pPr>
              <a:spcBef>
                <a:spcPts val="1200"/>
              </a:spcBef>
              <a:defRPr sz="1600">
                <a:solidFill>
                  <a:srgbClr val="CBD5E1"/>
                </a:solidFill>
              </a:defRPr>
            </a:pPr>
            <a:r>
              <a:t>Smart Food Tracking, Category-Filtered Stock Management, Expiration Telemetry &amp; Auto-Reordering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754880"/>
            <a:ext cx="246888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r>
              <a:t>CORE STACK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Node / Express / SQLite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66160" y="4754880"/>
            <a:ext cx="246888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r>
              <a:t>FRONTEND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React 18 + Vite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4754880"/>
            <a:ext cx="246888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r>
              <a:t>CATEGORIES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6 Food Groups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4754880"/>
            <a:ext cx="2468880" cy="10972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0EA5E9"/>
                </a:solidFill>
              </a:defRPr>
            </a:pPr>
            <a:r>
              <a:t>STATUS</a:t>
            </a:r>
          </a:p>
          <a:p>
            <a:pPr>
              <a:spcBef>
                <a:spcPts val="400"/>
              </a:spcBef>
              <a:defRPr sz="1300" b="1">
                <a:solidFill>
                  <a:srgbClr val="FFFFFF"/>
                </a:solidFill>
              </a:defRPr>
            </a:pPr>
            <a:r>
              <a:t>Fully Built &amp; 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1 of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1. Executive Summary &amp; Prototype Scope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34747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Pantry &amp; Refrigerator Tracking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Centralizes all food items across 6 structured categories. Tracks net stock, individual intake batches, and metric units (kg, liters, units, g).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47472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Batch-Level Expiration Tracking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7830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Records distinct purchase and expiration dates for every batch. Automatically calculates nearest expiration date across active stock.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0" y="1280160"/>
            <a:ext cx="3474720" cy="384048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Instant Modal Category Filters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78308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Interactive category selectors and keyword search inside Stock-In and Stock-Out modals for fast, immediate material location.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703320"/>
            <a:ext cx="347472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Multi-Tier Health Badges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2062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Real-time visual indicators: Sufficient (Green), Low Stock (Yellow), Expiring Soon (Orange), Expired (Red), and Out of Stock (Red).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3703320"/>
            <a:ext cx="347472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3-Day Lookahead Expiration Alert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2062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Proactively scans active inventory and displays an urgent top alert banner for batches expiring within 3 days or already expired.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80" y="3703320"/>
            <a:ext cx="3474720" cy="38404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Automated Reorder Shopping 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42062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>
                <a:solidFill>
                  <a:srgbClr val="0F172A"/>
                </a:solidFill>
              </a:defRPr>
            </a:pPr>
            <a:r>
              <a:t>Automatically generates replenishment lists when stock drops below minimum thresholds, with calculated order quantities.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2 of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2. Food Category Architecture &amp; Storage Classification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3474720" cy="38404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1. Fruits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Recommended Temp: 4°C to 7°C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Storage Profile: Crisper storage; humidity controlled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• Items: Gala Apples, Strawberries, Lemons, Bananas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47472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2. Vegetables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7373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Recommended Temp: 2°C to 4°C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Storage Profile: Chilling-sensitive moisture preservation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• Items: Baby Spinach, Carrots, Yellow Onions, Garlic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0" y="1280160"/>
            <a:ext cx="34747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3. Dairy Products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Recommended Temp: 1°C to 3°C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Storage Profile: Strict cold-chain refrigeration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• Items: Whole Milk, Cheddar Cheese, Butter, Heavy Cream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703320"/>
            <a:ext cx="347472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4. Baking Products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6052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Recommended Temp: 15°C to 20°C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Storage Profile: Dry pantry storage; sealed bins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• Items: Flour, Granulated Sugar, Active Dry Yeast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3703320"/>
            <a:ext cx="3474720" cy="38404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5. Dessert Products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416052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Recommended Temp: -18°C to 4°C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Storage Profile: Freezer &amp; chilled dessert bases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• Items: Dark Chocolate Chips, Tart Pastry Shells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80" y="3703320"/>
            <a:ext cx="3474720" cy="3840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6. Raw Materials &amp; 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16052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• Recommended Temp: Ambient / Chilled</a:t>
            </a:r>
          </a:p>
          <a:p>
            <a:pPr>
              <a:spcBef>
                <a:spcPts val="400"/>
              </a:spcBef>
              <a:defRPr sz="1050">
                <a:solidFill>
                  <a:srgbClr val="475569"/>
                </a:solidFill>
              </a:defRPr>
            </a:pPr>
            <a:r>
              <a:t>• Storage Profile: Cooking staples, oils, seasonings, proteins</a:t>
            </a:r>
          </a:p>
          <a:p>
            <a:pPr>
              <a:spcBef>
                <a:spcPts val="400"/>
              </a:spcBef>
              <a:defRPr sz="1050">
                <a:solidFill>
                  <a:srgbClr val="2563EB"/>
                </a:solidFill>
              </a:defRPr>
            </a:pPr>
            <a:r>
              <a:t>• Items: Chicken Breast, Olive Oil, Black Pepper, Soy Sauce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3 of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3. Full-Stack System Architecture &amp; Technology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74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34747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Frontend Client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3200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75569"/>
                </a:solidFill>
              </a:defRPr>
            </a:pPr>
            <a:r>
              <a:t>REACT 18 + VITE (PORT 5173)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▶ Glassmorphic Dashboard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Real-time KPI metric counters and top alert banner.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▶ Category Grid &amp; Table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Searchable catalog with 6 food category tabs &amp; health filters.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▶ Interactive Modals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Dedicated Stock-In, Stock-Out, New Item, and Shopping List modals.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474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47472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REST API Backend Layer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783080"/>
            <a:ext cx="3200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75569"/>
                </a:solidFill>
              </a:defRPr>
            </a:pPr>
            <a:r>
              <a:t>NODE.JS + EXPRESS (PORT 5000)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▶ CRUD Operations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Endpoints for category, item, and batch transaction management.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▶ Health Computation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Real-time status calculation (Sufficient, Low Stock, Expiring).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▶ Telemetry Service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3-day expiration evaluation and shopping list deficit aggregation.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280160"/>
            <a:ext cx="3474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0" y="1280160"/>
            <a:ext cx="347472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Data Persistence Layer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783080"/>
            <a:ext cx="3200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75569"/>
                </a:solidFill>
              </a:defRPr>
            </a:pPr>
            <a:r>
              <a:t>SQLITE DATABASE (PANTRY.DB)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▶ ACID Reliability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Atomically records all inflows and outflows with foreign key cascades.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▶ Normalized Tables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3NF relational schema: categories, items, inventory_transactions.</a:t>
            </a:r>
          </a:p>
          <a:p>
            <a:pPr>
              <a:spcBef>
                <a:spcPts val="1200"/>
              </a:spcBef>
              <a:defRPr sz="1100" b="1">
                <a:solidFill>
                  <a:srgbClr val="0F172A"/>
                </a:solidFill>
              </a:defRPr>
            </a:pPr>
            <a:r>
              <a:t>▶ B-Tree Indexes</a:t>
            </a:r>
          </a:p>
          <a:p>
            <a:pPr>
              <a:spcBef>
                <a:spcPts val="200"/>
              </a:spcBef>
              <a:defRPr sz="1000">
                <a:solidFill>
                  <a:srgbClr val="0F172A"/>
                </a:solidFill>
              </a:defRPr>
            </a:pPr>
            <a:r>
              <a:t>Optimized lookups on category_id and expiration_date.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4 of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4. Relational Database Schema &amp; Entity Relationships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521208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Relational SQLite DDL 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0F172A"/>
                </a:solidFill>
                <a:latin typeface="Courier New"/>
              </a:defRPr>
            </a:pPr>
            <a:r>
              <a:t>-- 1. Categories Table (1:N with Items)</a:t>
            </a:r>
            <a:br/>
            <a:r>
              <a:t>CREATE TABLE categories (</a:t>
            </a:r>
            <a:br/>
            <a:r>
              <a:t>  id INTEGER PRIMARY KEY AUTOINCREMENT,</a:t>
            </a:r>
            <a:br/>
            <a:r>
              <a:t>  name TEXT UNIQUE NOT NULL,</a:t>
            </a:r>
            <a:br/>
            <a:r>
              <a:t>  description TEXT</a:t>
            </a:r>
            <a:br/>
            <a:r>
              <a:t>);</a:t>
            </a:r>
            <a:br/>
            <a:br/>
            <a:r>
              <a:t>-- 2. Items Table (1:N with Transactions)</a:t>
            </a:r>
            <a:br/>
            <a:r>
              <a:t>CREATE TABLE items (</a:t>
            </a:r>
            <a:br/>
            <a:r>
              <a:t>  id INTEGER PRIMARY KEY AUTOINCREMENT,</a:t>
            </a:r>
            <a:br/>
            <a:r>
              <a:t>  category_id INTEGER NOT NULL REFERENCES categories(id),</a:t>
            </a:r>
            <a:br/>
            <a:r>
              <a:t>  name TEXT NOT NULL,</a:t>
            </a:r>
            <a:br/>
            <a:r>
              <a:t>  unit TEXT NOT NULL, -- kg, liters, g, units</a:t>
            </a:r>
            <a:br/>
            <a:r>
              <a:t>  min_threshold REAL NOT NULL DEFAULT 1.0,</a:t>
            </a:r>
            <a:br/>
            <a:r>
              <a:t>  created_at TEXT DEFAULT CURRENT_TIMESTAMP</a:t>
            </a:r>
            <a:br/>
            <a:r>
              <a:t>);</a:t>
            </a:r>
            <a:br/>
            <a:br/>
            <a:r>
              <a:t>-- 3. Inventory Transactions (Batch Inflow / Outflow)</a:t>
            </a:r>
            <a:br/>
            <a:r>
              <a:t>CREATE TABLE inventory_transactions (</a:t>
            </a:r>
            <a:br/>
            <a:r>
              <a:t>  id INTEGER PRIMARY KEY AUTOINCREMENT,</a:t>
            </a:r>
            <a:br/>
            <a:r>
              <a:t>  item_id INTEGER NOT NULL REFERENCES items(id),</a:t>
            </a:r>
            <a:br/>
            <a:r>
              <a:t>  transaction_type TEXT CHECK(transaction_type IN ('IN','OUT')),</a:t>
            </a:r>
            <a:br/>
            <a:r>
              <a:t>  quantity REAL NOT NULL,</a:t>
            </a:r>
            <a:br/>
            <a:r>
              <a:t>  purchase_date TEXT,</a:t>
            </a:r>
            <a:br/>
            <a:r>
              <a:t>  expiration_date TEXT,</a:t>
            </a:r>
            <a:br/>
            <a:r>
              <a:t>  timestamp TEXT DEFAULT CURRENT_TIMESTAMP,</a:t>
            </a:r>
            <a:br/>
            <a:r>
              <a:t>  reason TEXT</a:t>
            </a:r>
            <a:br/>
            <a:r>
              <a:t>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21208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Data Integrity &amp; Calculation Rules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2563EB"/>
                </a:solidFill>
              </a:defRPr>
            </a:pPr>
            <a:r>
              <a:t>✔ Current Stock Aggregation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current_stock = SUM(CASE WHEN type='IN' THEN qty ELSE -qty END) calculated in real time per item.</a:t>
            </a:r>
          </a:p>
          <a:p>
            <a:pPr>
              <a:spcBef>
                <a:spcPts val="800"/>
              </a:spcBef>
              <a:defRPr sz="1100" b="1">
                <a:solidFill>
                  <a:srgbClr val="2563EB"/>
                </a:solidFill>
              </a:defRPr>
            </a:pPr>
            <a:r>
              <a:t>✔ Nearest Expiration Lookup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MIN(expiration_date) across positive active batches gives the nearest expiry badge.</a:t>
            </a:r>
          </a:p>
          <a:p>
            <a:pPr>
              <a:spcBef>
                <a:spcPts val="800"/>
              </a:spcBef>
              <a:defRPr sz="1100" b="1">
                <a:solidFill>
                  <a:srgbClr val="2563EB"/>
                </a:solidFill>
              </a:defRPr>
            </a:pPr>
            <a:r>
              <a:t>✔ Foreign Key Cascades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Deleting an item cleans up all associated transaction records safely.</a:t>
            </a:r>
          </a:p>
          <a:p>
            <a:pPr>
              <a:spcBef>
                <a:spcPts val="800"/>
              </a:spcBef>
              <a:defRPr sz="1100" b="1">
                <a:solidFill>
                  <a:srgbClr val="2563EB"/>
                </a:solidFill>
              </a:defRPr>
            </a:pPr>
            <a:r>
              <a:t>✔ B-Tree Indexes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idx_items_category and idx_transactions_exp ensure sub-5ms query response times.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5 of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5. Object-Oriented Domain Entities &amp; UML Structure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3474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Category | Domain Grouping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0F172A"/>
                </a:solidFill>
              </a:defRPr>
            </a:pPr>
            <a:r>
              <a:t>+ id: int [PK]</a:t>
            </a:r>
            <a:br/>
            <a:r>
              <a:t>+ name: string</a:t>
            </a:r>
            <a:br/>
            <a:r>
              <a:t>+ description: string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+ getItems(): List&lt;InventoryItem&gt;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474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InventoryItem | Core Catalog 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34840" y="17373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0F172A"/>
                </a:solidFill>
              </a:defRPr>
            </a:pPr>
            <a:r>
              <a:t>+ id: int [PK]</a:t>
            </a:r>
            <a:br/>
            <a:r>
              <a:t>+ categoryId: int [FK]</a:t>
            </a:r>
            <a:br/>
            <a:r>
              <a:t>+ name: string</a:t>
            </a:r>
            <a:br/>
            <a:r>
              <a:t>+ unit: string</a:t>
            </a:r>
            <a:br/>
            <a:r>
              <a:t>+ minThreshold: float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+ calculateCurrentStock(): float</a:t>
            </a:r>
            <a:br/>
            <a:r>
              <a:t>+ getNearestExpiration(): Date</a:t>
            </a:r>
            <a:br/>
            <a:r>
              <a:t>+ evaluateStatus(): StatusBadge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28016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0" y="1280160"/>
            <a:ext cx="3474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InventoryTransaction | Batch Movement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0" y="173736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0F172A"/>
                </a:solidFill>
              </a:defRPr>
            </a:pPr>
            <a:r>
              <a:t>+ id: int [PK]</a:t>
            </a:r>
            <a:br/>
            <a:r>
              <a:t>+ itemId: int [FK]</a:t>
            </a:r>
            <a:br/>
            <a:r>
              <a:t>+ transactionType: 'IN'|'OUT'</a:t>
            </a:r>
            <a:br/>
            <a:r>
              <a:t>+ quantity: float</a:t>
            </a:r>
          </a:p>
          <a:p>
            <a:pPr>
              <a:spcBef>
                <a:spcPts val="400"/>
              </a:spcBef>
              <a:defRPr sz="950">
                <a:solidFill>
                  <a:srgbClr val="0F172A"/>
                </a:solidFill>
              </a:defRPr>
            </a:pPr>
            <a:r>
              <a:t>+ purchaseDate: Date</a:t>
            </a:r>
            <a:br/>
            <a:r>
              <a:t>+ expirationDate: Date</a:t>
            </a:r>
            <a:br/>
            <a:r>
              <a:t>+ reason: string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3703320"/>
            <a:ext cx="3474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AlertEngine | Telemetry Service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6052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0F172A"/>
                </a:solidFill>
              </a:defRPr>
            </a:pPr>
            <a:r>
              <a:t>+ evaluateExpiringLots(horizonDays=3): List&lt;Alert&gt;</a:t>
            </a:r>
            <a:br/>
            <a:r>
              <a:t>+ evaluateLowStock(): List&lt;ShoppingListItem&gt;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3703320"/>
            <a:ext cx="3474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StockInPayload | Inbound DTO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34840" y="416052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0F172A"/>
                </a:solidFill>
              </a:defRPr>
            </a:pPr>
            <a:r>
              <a:t>+ itemId: int</a:t>
            </a:r>
            <a:br/>
            <a:r>
              <a:t>+ quantity: float</a:t>
            </a:r>
            <a:br/>
            <a:r>
              <a:t>+ purchaseDate: Date</a:t>
            </a:r>
            <a:br/>
            <a:r>
              <a:t>+ expirationDate: Date</a:t>
            </a:r>
            <a:br/>
            <a:r>
              <a:t>+ reason: string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80" y="3703320"/>
            <a:ext cx="347472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955280" y="3703320"/>
            <a:ext cx="3474720" cy="38404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StockOutPayload | Outbound DTO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4160520"/>
            <a:ext cx="32918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950">
                <a:solidFill>
                  <a:srgbClr val="0F172A"/>
                </a:solidFill>
              </a:defRPr>
            </a:pPr>
            <a:r>
              <a:t>+ itemId: int</a:t>
            </a:r>
            <a:br/>
            <a:r>
              <a:t>+ quantity: float</a:t>
            </a:r>
            <a:br/>
            <a:r>
              <a:t>+ reason: 'Used/Consumed'|'Spoiled/Expired'|'Transferred'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6 of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6. Class-Responsibility-Collaborator (CRC) Cards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74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347472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InventoryItem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3200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RESPONSIBILITIES (What it Does):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Maintains item name, category, unit, and min threshold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Aggregates total stock balance from transactions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Evaluates health status (Sufficient, Low, Expiring)</a:t>
            </a:r>
          </a:p>
          <a:p>
            <a:pPr>
              <a:spcBef>
                <a:spcPts val="1400"/>
              </a:spcBef>
              <a:defRPr sz="1000" b="1">
                <a:solidFill>
                  <a:srgbClr val="2563EB"/>
                </a:solidFill>
              </a:defRPr>
            </a:pPr>
            <a:r>
              <a:t>COLLABORATORS (Interacts With):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Category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InventoryTransaction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AlertEngine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474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3400" y="1280160"/>
            <a:ext cx="347472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InventoryTransaction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783080"/>
            <a:ext cx="3200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RESPONSIBILITIES (What it Does):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Records individual batch inflow and consumption outflow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Tracks specific purchase and expiration dates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Logs reason classification</a:t>
            </a:r>
          </a:p>
          <a:p>
            <a:pPr>
              <a:spcBef>
                <a:spcPts val="1400"/>
              </a:spcBef>
              <a:defRPr sz="1000" b="1">
                <a:solidFill>
                  <a:srgbClr val="2563EB"/>
                </a:solidFill>
              </a:defRPr>
            </a:pPr>
            <a:r>
              <a:t>COLLABORATORS (Interacts With):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InventoryItem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0" y="1280160"/>
            <a:ext cx="347472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955280" y="1280160"/>
            <a:ext cx="347472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AlertEngine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783080"/>
            <a:ext cx="3200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F172A"/>
                </a:solidFill>
              </a:defRPr>
            </a:pPr>
            <a:r>
              <a:t>RESPONSIBILITIES (What it Does):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Scans batch expiration dates against today's date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Emits 3-day lookahead Expiring Soon alerts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Compiles Low Stock items into Shopping List</a:t>
            </a:r>
          </a:p>
          <a:p>
            <a:pPr>
              <a:spcBef>
                <a:spcPts val="1400"/>
              </a:spcBef>
              <a:defRPr sz="1000" b="1">
                <a:solidFill>
                  <a:srgbClr val="2563EB"/>
                </a:solidFill>
              </a:defRPr>
            </a:pPr>
            <a:r>
              <a:t>COLLABORATORS (Interacts With):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InventoryItem</a:t>
            </a:r>
          </a:p>
          <a:p>
            <a:pPr>
              <a:spcBef>
                <a:spcPts val="300"/>
              </a:spcBef>
              <a:defRPr sz="950">
                <a:solidFill>
                  <a:srgbClr val="0F172A"/>
                </a:solidFill>
              </a:defRPr>
            </a:pPr>
            <a:r>
              <a:t>• InventoryTransaction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7 of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7. Inbound Stock-In Workflow &amp; Category Filter Feature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28016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1560" y="1389888"/>
            <a:ext cx="6400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325880"/>
            <a:ext cx="9235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1: Open Stock-In Modal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User clicks '+ In' on an inventory row or '+ Stock In' from the dashboard.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24028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" y="2350008"/>
            <a:ext cx="6400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286000"/>
            <a:ext cx="9235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2: Instant Category &amp; Keyword Filter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User selects a Category (e.g., 'Dairy Products') or types in the live search box. Modal dynamically filters dropdown to only matching materials.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0040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310128"/>
            <a:ext cx="6400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46120"/>
            <a:ext cx="9235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3: Quantity &amp; Batch Dates Entry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User specifies intake quantity, purchase date, and batch expiration date.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6052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1560" y="4270248"/>
            <a:ext cx="6400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206240"/>
            <a:ext cx="9235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4: Reason Tagging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User selects reason: 'Initial Stock / Regular Purchase', 'Supplier Restock', or 'Fresh Produce Restock'.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12064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51560" y="5230368"/>
            <a:ext cx="640080" cy="64008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166360"/>
            <a:ext cx="9235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Step 5: Database Commit &amp; Real-Time Sync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POST /api/transactions/in logs the transaction, updates stock totals, and refreshes the UI dashboard instantly.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8 of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8. Outbound Stock-Out Workflow &amp; Validation Rules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5212080" cy="38404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Stock-Out Execution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EF4444"/>
                </a:solidFill>
              </a:defRPr>
            </a:pPr>
            <a:r>
              <a:t>1. Material Selection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User filters by category or searches item name inside the Stock-Out modal.</a:t>
            </a:r>
          </a:p>
          <a:p>
            <a:pPr>
              <a:spcBef>
                <a:spcPts val="800"/>
              </a:spcBef>
              <a:defRPr sz="1100" b="1">
                <a:solidFill>
                  <a:srgbClr val="EF4444"/>
                </a:solidFill>
              </a:defRPr>
            </a:pPr>
            <a:r>
              <a:t>2. Stock Sufficiency Check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Modal validates that deduction quantity &lt;= available stock balance. Over-deductions are blocked with an error banner.</a:t>
            </a:r>
          </a:p>
          <a:p>
            <a:pPr>
              <a:spcBef>
                <a:spcPts val="800"/>
              </a:spcBef>
              <a:defRPr sz="1100" b="1">
                <a:solidFill>
                  <a:srgbClr val="EF4444"/>
                </a:solidFill>
              </a:defRPr>
            </a:pPr>
            <a:r>
              <a:t>3. Reason Classification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User selects one of 3 clean reasons: 'Used / Consumed', 'Spoiled / Expired', or 'Transferred'.</a:t>
            </a:r>
          </a:p>
          <a:p>
            <a:pPr>
              <a:spcBef>
                <a:spcPts val="800"/>
              </a:spcBef>
              <a:defRPr sz="1100" b="1">
                <a:solidFill>
                  <a:srgbClr val="EF4444"/>
                </a:solidFill>
              </a:defRPr>
            </a:pPr>
            <a:r>
              <a:t>4. Atomic Deduction Commit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POST /api/transactions/out writes the 'OUT' transaction and updates the item's balance.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21208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Deduction Reason Definitions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1E40AF"/>
                </a:solidFill>
              </a:defRPr>
            </a:pPr>
            <a:r>
              <a:t>• Used / Consumed (Default)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Standard culinary usage: ingredients cooked, eaten, or prepared for meals.</a:t>
            </a:r>
          </a:p>
          <a:p>
            <a:pPr>
              <a:spcBef>
                <a:spcPts val="1200"/>
              </a:spcBef>
              <a:defRPr sz="1100" b="1">
                <a:solidFill>
                  <a:srgbClr val="1E40AF"/>
                </a:solidFill>
              </a:defRPr>
            </a:pPr>
            <a:r>
              <a:t>• Spoiled / Expired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Discarded inventory: food that reached past expiration, spoiled, or went bad.</a:t>
            </a:r>
          </a:p>
          <a:p>
            <a:pPr>
              <a:spcBef>
                <a:spcPts val="1200"/>
              </a:spcBef>
              <a:defRPr sz="1100" b="1">
                <a:solidFill>
                  <a:srgbClr val="1E40AF"/>
                </a:solidFill>
              </a:defRPr>
            </a:pPr>
            <a:r>
              <a:t>• Transferred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Relocated inventory: stock transferred to another kitchen, station, or storage area.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9 of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9. Real-Time Telemetry &amp; 5 Status Badges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28016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1417320"/>
            <a:ext cx="320040" cy="5943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132588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SUFFICIENT (Green Badge)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Trigger: current_stock &gt;= min_threshold &amp; No Expiring Batches   •   Healthy stock level; no immediate action required.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24028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AB30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51560" y="2377440"/>
            <a:ext cx="320040" cy="594360"/>
          </a:xfrm>
          <a:prstGeom prst="roundRect">
            <a:avLst/>
          </a:prstGeom>
          <a:solidFill>
            <a:srgbClr val="EAB3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08760" y="22860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AB308"/>
                </a:solidFill>
              </a:defRPr>
            </a:pPr>
            <a:r>
              <a:t>LOW_STOCK (Yellow Badge)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Trigger: 0 &lt; current_stock &lt; min_threshold   •   Inventory running low; automatically added to Reorder Shopping List.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20040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51560" y="3337560"/>
            <a:ext cx="320040" cy="5943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8760" y="324612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EXPIRING_SOON (Orange Badge)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Trigger: 0 &lt; (expiration_date - TODAY) &lt;= 3 Days   •   Batch near expiration; highlighted in top banner to prioritize usage.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16052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51560" y="4297680"/>
            <a:ext cx="320040" cy="59436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8760" y="420624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F4444"/>
                </a:solidFill>
              </a:defRPr>
            </a:pPr>
            <a:r>
              <a:t>EXPIRED (Red Badge)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Trigger: Positive batch with expiration_date &lt; TODAY   •   Batch past expiration; flagged for immediate inspection or discard.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5120640"/>
            <a:ext cx="10332720" cy="868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51560" y="5257800"/>
            <a:ext cx="320040" cy="59436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08760" y="516636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OUT_OF_STOCK (Red Badge)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Trigger: current_stock &lt;= 0   •   Completely depleted; urgent restock required.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10 of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10. Automated Reorder Shopping List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521208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Reorder Calculation Formula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F172A"/>
                </a:solidFill>
              </a:defRPr>
            </a:pPr>
            <a:r>
              <a:t>Replenishment Target Formula:</a:t>
            </a:r>
          </a:p>
          <a:p>
            <a:pPr>
              <a:spcBef>
                <a:spcPts val="400"/>
              </a:spcBef>
              <a:defRPr sz="1000">
                <a:solidFill>
                  <a:srgbClr val="2563EB"/>
                </a:solidFill>
                <a:latin typeface="Courier New"/>
              </a:defRPr>
            </a:pPr>
            <a:r>
              <a:t>Target Stock = 2 × min_threshold</a:t>
            </a:r>
            <a:br/>
            <a:r>
              <a:t>Suggested Reorder = MAX(1, Target Stock - current_stock)</a:t>
            </a:r>
          </a:p>
          <a:p>
            <a:br/>
            <a:pPr>
              <a:spcBef>
                <a:spcPts val="800"/>
              </a:spcBef>
              <a:defRPr sz="1100" b="1">
                <a:solidFill>
                  <a:srgbClr val="0F172A"/>
                </a:solidFill>
              </a:defRPr>
            </a:pPr>
            <a:r>
              <a:t>Example Calculation (Lemons):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• Min Threshold: 10.0 units</a:t>
            </a:r>
            <a:br/>
            <a:r>
              <a:t>• Current Stock: 2.0 units</a:t>
            </a:r>
            <a:br/>
            <a:r>
              <a:t>• Target Level: 20.0 units</a:t>
            </a:r>
            <a:br/>
            <a:r>
              <a:t>• Suggested Reorder: 18.0 units (Urgency: HIGH)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21208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Shopping List Modal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1E40AF"/>
                </a:solidFill>
              </a:defRPr>
            </a:pPr>
            <a:r>
              <a:t>✔ Automated Compilation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GET /api/alerts/shopping-list dynamically gathers all depleted items below threshold.</a:t>
            </a:r>
          </a:p>
          <a:p>
            <a:pPr>
              <a:spcBef>
                <a:spcPts val="800"/>
              </a:spcBef>
              <a:defRPr sz="1100" b="1">
                <a:solidFill>
                  <a:srgbClr val="1E40AF"/>
                </a:solidFill>
              </a:defRPr>
            </a:pPr>
            <a:r>
              <a:t>✔ One-Click Access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Top header button displays a live red badge count with total deficit items.</a:t>
            </a:r>
          </a:p>
          <a:p>
            <a:pPr>
              <a:spcBef>
                <a:spcPts val="800"/>
              </a:spcBef>
              <a:defRPr sz="1100" b="1">
                <a:solidFill>
                  <a:srgbClr val="1E40AF"/>
                </a:solidFill>
              </a:defRPr>
            </a:pPr>
            <a:r>
              <a:t>✔ Urgency Badges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Tags depleted stock (&lt;= 0) as 'CRITICAL' and low stock as 'HIGH'.</a:t>
            </a:r>
          </a:p>
          <a:p>
            <a:pPr>
              <a:spcBef>
                <a:spcPts val="800"/>
              </a:spcBef>
              <a:defRPr sz="1100" b="1">
                <a:solidFill>
                  <a:srgbClr val="1E40AF"/>
                </a:solidFill>
              </a:defRPr>
            </a:pPr>
            <a:r>
              <a:t>✔ Category Breakdown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Organizes items by category with exact units for easy in-store or online grocery purchasing.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11 of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11. Core Modules &amp; Code Implementation Breakdown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280160"/>
            <a:ext cx="521208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Backend Modules (Node / Express / SQLite)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2563EB"/>
                </a:solidFill>
              </a:defRPr>
            </a:pPr>
            <a:r>
              <a:t>• server.js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Express REST server hosting /api/categories, /api/items, /api/transactions/in, /api/transactions/out, /api/dashboard/summary, and /api/alerts/*.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• db.js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SQLite database connection manager with async run(), get(), all() helper wrappers and auto-initialization.</a:t>
            </a:r>
          </a:p>
          <a:p>
            <a:pPr>
              <a:spcBef>
                <a:spcPts val="600"/>
              </a:spcBef>
              <a:defRPr sz="1050" b="1">
                <a:solidFill>
                  <a:srgbClr val="2563EB"/>
                </a:solidFill>
              </a:defRPr>
            </a:pPr>
            <a:r>
              <a:t>• schema.sql &amp; seed.sql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DDL script defining categories, items, and inventory_transactions with realistic sample items.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280160"/>
            <a:ext cx="5212080" cy="4892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280160"/>
            <a:ext cx="521208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Frontend Modules (React 18 + Vite)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78308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1E40AF"/>
                </a:solidFill>
              </a:defRPr>
            </a:pPr>
            <a:r>
              <a:t>• App.jsx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Root orchestrator managing data fetch, search/category state, alert banners, and modal visibility.</a:t>
            </a:r>
          </a:p>
          <a:p>
            <a:pPr>
              <a:spcBef>
                <a:spcPts val="600"/>
              </a:spcBef>
              <a:defRPr sz="1050" b="1">
                <a:solidFill>
                  <a:srgbClr val="1E40AF"/>
                </a:solidFill>
              </a:defRPr>
            </a:pPr>
            <a:r>
              <a:t>• StockInModal.jsx / StockOutModal.jsx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Enhanced modals featuring live category dropdown filtering and instant material search.</a:t>
            </a:r>
          </a:p>
          <a:p>
            <a:pPr>
              <a:spcBef>
                <a:spcPts val="600"/>
              </a:spcBef>
              <a:defRPr sz="1050" b="1">
                <a:solidFill>
                  <a:srgbClr val="1E40AF"/>
                </a:solidFill>
              </a:defRPr>
            </a:pPr>
            <a:r>
              <a:t>• InventoryTable.jsx &amp; CategoryGrid.jsx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Renderable interactive tables and cards with color-coded status badges.</a:t>
            </a:r>
          </a:p>
          <a:p>
            <a:pPr>
              <a:spcBef>
                <a:spcPts val="600"/>
              </a:spcBef>
              <a:defRPr sz="1050" b="1">
                <a:solidFill>
                  <a:srgbClr val="1E40AF"/>
                </a:solidFill>
              </a:defRPr>
            </a:pPr>
            <a:r>
              <a:t>• ShoppingListModal.jsx</a:t>
            </a:r>
          </a:p>
          <a:p>
            <a:pPr>
              <a:spcBef>
                <a:spcPts val="200"/>
              </a:spcBef>
              <a:defRPr sz="950">
                <a:solidFill>
                  <a:srgbClr val="0F172A"/>
                </a:solidFill>
              </a:defRPr>
            </a:pPr>
            <a:r>
              <a:t>Reorder modal displaying all low-stock items with suggested replenishment quantities.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12 of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172A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33271"/>
            <a:ext cx="12191695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EA5E9"/>
                </a:solidFill>
                <a:latin typeface="Arial"/>
              </a:defRPr>
            </a:pPr>
            <a:r>
              <a:t>PROTOTYPE SYSTEM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51560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12. Summary &amp; Key Prototype Benefits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371600"/>
            <a:ext cx="50292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1371600"/>
            <a:ext cx="5029200" cy="3840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1. Accurate Stock Tracking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92024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0F172A"/>
                </a:solidFill>
              </a:defRPr>
            </a:pPr>
            <a:r>
              <a:t>Maintains exact real-time quantities and batch expiration dates across all 6 food groups with zero data loss.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371600"/>
            <a:ext cx="50292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502920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2. Instant Material Discovery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0F172A"/>
                </a:solidFill>
              </a:defRPr>
            </a:pPr>
            <a:r>
              <a:t>Category filter dropdowns and keyword search in Stock-In/Out modals allow users to find items in seconds.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3749039"/>
            <a:ext cx="50292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3749039"/>
            <a:ext cx="50292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3. Proactive Spoilage Prevention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429768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0F172A"/>
                </a:solidFill>
              </a:defRPr>
            </a:pPr>
            <a:r>
              <a:t>3-day lookahead expiration warnings and nearest expiry tags ensure perishable ingredients are used before spoiling.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749039"/>
            <a:ext cx="502920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749039"/>
            <a:ext cx="5029200" cy="38404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4. Automated Reordering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29768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0F172A"/>
                </a:solidFill>
              </a:defRPr>
            </a:pPr>
            <a:r>
              <a:t>Calculates required restock amounts automatically when stock falls below threshold, simplifying grocery planning.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473952"/>
            <a:ext cx="1072865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  <a:latin typeface="Arial"/>
              </a:defRPr>
            </a:pPr>
            <a:r>
              <a:t>Refrigerator &amp; Pantry Inventory System Prototype   •   Slide 13 of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